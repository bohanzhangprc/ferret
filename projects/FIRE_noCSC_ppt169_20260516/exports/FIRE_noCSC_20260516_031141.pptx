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0F9FF"/>
              </a:gs>
              <a:gs pos="50000">
                <a:srgbClr val="E0F2FE"/>
              </a:gs>
              <a:gs pos="100000">
                <a:srgbClr val="F8FAFC"/>
              </a:gs>
            </a:gsLst>
            <a:lin ang="2700000" scaled="1"/>
          </a:gra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814790" y="1850708"/>
            <a:ext cx="10562420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dirty="0">
                <a:solidFill>
                  <a:srgbClr val="0C4A6E"/>
                </a:solidFill>
                <a:latin typeface="Segoe UI"/>
                <a:ea typeface="Microsoft YaHei"/>
                <a:cs typeface="Segoe UI"/>
              </a:rPr>
              <a:t>Neural Mechanisms of Sensorimotor Learning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163949" y="2503170"/>
            <a:ext cx="386410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dirty="0">
                <a:solidFill>
                  <a:srgbClr val="0C4A6E"/>
                </a:solidFill>
                <a:latin typeface="Segoe UI"/>
                <a:ea typeface="Microsoft YaHei"/>
                <a:cs typeface="Segoe UI"/>
              </a:rPr>
              <a:t>in the Auditory Cortex</a:t>
            </a:r>
          </a:p>
        </p:txBody>
      </p:sp>
      <p:sp>
        <p:nvSpPr>
          <p:cNvPr id="5" name="Line 5"/>
          <p:cNvSpPr/>
          <p:nvPr/>
        </p:nvSpPr>
        <p:spPr>
          <a:xfrm>
            <a:off x="5334000" y="31432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28575">
            <a:solidFill>
              <a:srgbClr val="7DD3FC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5341253" y="3536632"/>
            <a:ext cx="150949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Bohan Zhang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074033" y="3918585"/>
            <a:ext cx="404393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Laboratoire des Systèmes Perceptifs, ENS-PSL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696206" y="4156710"/>
            <a:ext cx="279958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Supervised by Dr. Yves Boubenec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161925" y="5030152"/>
            <a:ext cx="38681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FIRE Doctoral School Interview | 20 minutes | English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578114" y="6586538"/>
            <a:ext cx="5191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4830" y="268605"/>
            <a:ext cx="506106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C4A6E"/>
                </a:solidFill>
                <a:latin typeface="Segoe UI"/>
                <a:ea typeface="Microsoft YaHei"/>
                <a:cs typeface="Segoe UI"/>
              </a:rPr>
              <a:t>My Training Path to This Project</a:t>
            </a:r>
          </a:p>
        </p:txBody>
      </p:sp>
      <p:sp>
        <p:nvSpPr>
          <p:cNvPr id="4" name="Line 4"/>
          <p:cNvSpPr/>
          <p:nvPr/>
        </p:nvSpPr>
        <p:spPr>
          <a:xfrm>
            <a:off x="571500" y="647700"/>
            <a:ext cx="762000" cy="9525"/>
          </a:xfrm>
          <a:custGeom>
            <a:avLst/>
            <a:gdLst/>
            <a:ahLst/>
            <a:cxnLst/>
            <a:rect l="l" t="t" r="r" b="b"/>
            <a:pathLst>
              <a:path w="762000" h="9525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/>
          <a:ln w="28575">
            <a:solidFill>
              <a:srgbClr val="7DD3FC"/>
            </a:solidFill>
          </a:ln>
        </p:spPr>
      </p:sp>
      <p:grpSp>
        <p:nvGrpSpPr>
          <p:cNvPr id="41" name="Group 41"/>
          <p:cNvGrpSpPr/>
          <p:nvPr/>
        </p:nvGrpSpPr>
        <p:grpSpPr>
          <a:xfrm>
            <a:off x="571500" y="952500"/>
            <a:ext cx="11185493" cy="4743450"/>
            <a:chOff x="571500" y="952500"/>
            <a:chExt cx="11185493" cy="4743450"/>
          </a:xfrm>
        </p:grpSpPr>
        <p:sp>
          <p:nvSpPr>
            <p:cNvPr id="5" name="Rectangle 5"/>
            <p:cNvSpPr/>
            <p:nvPr/>
          </p:nvSpPr>
          <p:spPr>
            <a:xfrm>
              <a:off x="571500" y="952500"/>
              <a:ext cx="11049000" cy="400050"/>
            </a:xfrm>
            <a:prstGeom prst="roundRect">
              <a:avLst>
                <a:gd name="adj" fmla="val 14286"/>
              </a:avLst>
            </a:prstGeom>
            <a:solidFill>
              <a:srgbClr val="0C4A6E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3225165" y="1105852"/>
              <a:ext cx="159661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Degree &amp; Institution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463665" y="1105852"/>
              <a:ext cx="16127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Training &amp; Outcomes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035665" y="1105852"/>
              <a:ext cx="5177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Period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71500" y="1362075"/>
              <a:ext cx="5334000" cy="1047750"/>
            </a:xfrm>
            <a:prstGeom prst="roundRect">
              <a:avLst>
                <a:gd name="adj" fmla="val 3636"/>
              </a:avLst>
            </a:prstGeom>
            <a:solidFill>
              <a:srgbClr val="F0F9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09612" y="1478756"/>
              <a:ext cx="14605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C4A6E"/>
                  </a:solidFill>
                  <a:latin typeface="Segoe UI"/>
                  <a:ea typeface="Microsoft YaHei"/>
                  <a:cs typeface="Segoe UI"/>
                </a:rPr>
                <a:t>BSc Neuroscience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1518" y="1704499"/>
              <a:ext cx="145587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University of Bristol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12470" y="2093595"/>
              <a:ext cx="27240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Physiology · Pharmacology · Cellular Neuro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905500" y="1362075"/>
              <a:ext cx="5048250" cy="1047750"/>
            </a:xfrm>
            <a:prstGeom prst="roundRect">
              <a:avLst>
                <a:gd name="adj" fmla="val 3636"/>
              </a:avLst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045518" y="1494949"/>
              <a:ext cx="307921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2E"/>
                  </a:solidFill>
                  <a:latin typeface="Segoe UI"/>
                  <a:ea typeface="Microsoft YaHei"/>
                  <a:cs typeface="Segoe UI"/>
                </a:rPr>
                <a:t>Broad foundation in neuroscience disciplines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46470" y="1760220"/>
              <a:ext cx="531352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Undergraduate research: Layer I cortical neuron segmentation (SBEM microscopy)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228070" y="1788795"/>
              <a:ext cx="46320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2018–21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71500" y="2457450"/>
              <a:ext cx="5334000" cy="1047750"/>
            </a:xfrm>
            <a:prstGeom prst="roundRect">
              <a:avLst>
                <a:gd name="adj" fmla="val 3636"/>
              </a:avLst>
            </a:prstGeom>
            <a:solidFill>
              <a:srgbClr val="F0F9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09612" y="2574131"/>
              <a:ext cx="216784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C4A6E"/>
                  </a:solidFill>
                  <a:latin typeface="Segoe UI"/>
                  <a:ea typeface="Microsoft YaHei"/>
                  <a:cs typeface="Segoe UI"/>
                </a:rPr>
                <a:t>MSc Brain &amp; Mind Sciences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1518" y="2799874"/>
              <a:ext cx="227466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UCL — Graduated with Distinction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12470" y="3188970"/>
              <a:ext cx="225085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Neural Imaging &amp; Neural Engineering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905500" y="2457450"/>
              <a:ext cx="5048250" cy="1047750"/>
            </a:xfrm>
            <a:prstGeom prst="roundRect">
              <a:avLst>
                <a:gd name="adj" fmla="val 3636"/>
              </a:avLst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045518" y="2590324"/>
              <a:ext cx="51582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2E"/>
                  </a:solidFill>
                  <a:latin typeface="Segoe UI"/>
                  <a:ea typeface="Microsoft YaHei"/>
                  <a:cs typeface="Segoe UI"/>
                </a:rPr>
                <a:t>Dissertation: ML cluster analysis of EEG-fMRI statistical maps in Epilepsy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046470" y="2807970"/>
              <a:ext cx="17316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Thesis awarded Distinction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046470" y="3017520"/>
              <a:ext cx="283151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369A1"/>
                  </a:solidFill>
                  <a:latin typeface="Segoe UI"/>
                  <a:ea typeface="Microsoft YaHei"/>
                  <a:cs typeface="Segoe UI"/>
                </a:rPr>
                <a:t>OHBM 2025 Poster Presentation, Brisbane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228070" y="2884170"/>
              <a:ext cx="49606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2021–24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71500" y="3552825"/>
              <a:ext cx="5334000" cy="1047750"/>
            </a:xfrm>
            <a:prstGeom prst="roundRect">
              <a:avLst>
                <a:gd name="adj" fmla="val 3636"/>
              </a:avLst>
            </a:prstGeom>
            <a:solidFill>
              <a:srgbClr val="F0F9F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09612" y="3669506"/>
              <a:ext cx="10292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C4A6E"/>
                  </a:solidFill>
                  <a:latin typeface="Segoe UI"/>
                  <a:ea typeface="Microsoft YaHei"/>
                  <a:cs typeface="Segoe UI"/>
                </a:rPr>
                <a:t>M2 BiP + DEC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11518" y="3895249"/>
              <a:ext cx="211802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Sorbonne Université · ENS-PSL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905500" y="3552825"/>
              <a:ext cx="5048250" cy="1047750"/>
            </a:xfrm>
            <a:prstGeom prst="roundRect">
              <a:avLst>
                <a:gd name="adj" fmla="val 3636"/>
              </a:avLst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045518" y="3685699"/>
              <a:ext cx="440352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2E"/>
                  </a:solidFill>
                  <a:latin typeface="Segoe UI"/>
                  <a:ea typeface="Microsoft YaHei"/>
                  <a:cs typeface="Segoe UI"/>
                </a:rPr>
                <a:t>Bayesian Brain · Cognitive Models · Computational Neuroscience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046470" y="3950970"/>
              <a:ext cx="326955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Bridging computational skills with cognitive theory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228070" y="3979545"/>
              <a:ext cx="528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2025–26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71500" y="4648200"/>
              <a:ext cx="5334000" cy="1047750"/>
            </a:xfrm>
            <a:prstGeom prst="roundRect">
              <a:avLst>
                <a:gd name="adj" fmla="val 3636"/>
              </a:avLst>
            </a:prstGeom>
            <a:solidFill>
              <a:srgbClr val="F0F9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09612" y="4764881"/>
              <a:ext cx="116721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C4A6E"/>
                  </a:solidFill>
                  <a:latin typeface="Segoe UI"/>
                  <a:ea typeface="Microsoft YaHei"/>
                  <a:cs typeface="Segoe UI"/>
                </a:rPr>
                <a:t>M2 Internship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11518" y="4990624"/>
              <a:ext cx="159827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Boubenec Lab, ENS-PSL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905500" y="4648200"/>
              <a:ext cx="5048250" cy="1047750"/>
            </a:xfrm>
            <a:prstGeom prst="roundRect">
              <a:avLst>
                <a:gd name="adj" fmla="val 3636"/>
              </a:avLst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045518" y="4781074"/>
              <a:ext cx="54999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2E"/>
                  </a:solidFill>
                  <a:latin typeface="Segoe UI"/>
                  <a:ea typeface="Microsoft YaHei"/>
                  <a:cs typeface="Segoe UI"/>
                </a:rPr>
                <a:t>In vivo electrophysiology · Closed-loop acoustic VR · 32-channel chronic arrays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046470" y="5046345"/>
              <a:ext cx="335499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PCA · GPFA · Granger causality · Population decoding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046470" y="5255895"/>
              <a:ext cx="41564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369A1"/>
                  </a:solidFill>
                  <a:latin typeface="Segoe UI"/>
                  <a:ea typeface="Microsoft YaHei"/>
                  <a:cs typeface="Segoe UI"/>
                </a:rPr>
                <a:t>Already operating at the exact intersection this PhD demands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228070" y="5074920"/>
              <a:ext cx="528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Current</a:t>
              </a: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11550729" y="6586538"/>
            <a:ext cx="7929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41" grpId="0"/>
      <p:bldP spid="4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4830" y="268605"/>
            <a:ext cx="599498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C4A6E"/>
                </a:solidFill>
                <a:latin typeface="Segoe UI"/>
                <a:ea typeface="Microsoft YaHei"/>
                <a:cs typeface="Segoe UI"/>
              </a:rPr>
              <a:t>The Problem: Auditory-Motor Coupling</a:t>
            </a:r>
          </a:p>
        </p:txBody>
      </p:sp>
      <p:sp>
        <p:nvSpPr>
          <p:cNvPr id="4" name="Line 4"/>
          <p:cNvSpPr/>
          <p:nvPr/>
        </p:nvSpPr>
        <p:spPr>
          <a:xfrm>
            <a:off x="571500" y="647700"/>
            <a:ext cx="762000" cy="9525"/>
          </a:xfrm>
          <a:custGeom>
            <a:avLst/>
            <a:gdLst/>
            <a:ahLst/>
            <a:cxnLst/>
            <a:rect l="l" t="t" r="r" b="b"/>
            <a:pathLst>
              <a:path w="762000" h="9525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/>
          <a:ln w="28575">
            <a:solidFill>
              <a:srgbClr val="7DD3FC"/>
            </a:solidFill>
          </a:ln>
        </p:spPr>
      </p:sp>
      <p:sp>
        <p:nvSpPr>
          <p:cNvPr id="5" name="Rectangle 5"/>
          <p:cNvSpPr/>
          <p:nvPr/>
        </p:nvSpPr>
        <p:spPr>
          <a:xfrm>
            <a:off x="571500" y="952500"/>
            <a:ext cx="5334000" cy="2667000"/>
          </a:xfrm>
          <a:prstGeom prst="roundRect">
            <a:avLst>
              <a:gd name="adj" fmla="val 4286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822960" y="1127760"/>
            <a:ext cx="129103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C4A6E"/>
                </a:solidFill>
                <a:latin typeface="Segoe UI"/>
                <a:ea typeface="Microsoft YaHei"/>
                <a:cs typeface="Segoe UI"/>
              </a:rPr>
              <a:t>Core Question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24865" y="1372552"/>
            <a:ext cx="423619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How does the brain learn to predict and produce sounds?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24865" y="1753552"/>
            <a:ext cx="36818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369A1"/>
                </a:solidFill>
                <a:latin typeface="Segoe UI"/>
                <a:ea typeface="Microsoft YaHei"/>
                <a:cs typeface="Segoe UI"/>
              </a:rPr>
              <a:t>Two Fundamental Computations (Kawato, 1999)</a:t>
            </a:r>
          </a:p>
        </p:txBody>
      </p:sp>
      <p:sp>
        <p:nvSpPr>
          <p:cNvPr id="9" name="Ellipse 9"/>
          <p:cNvSpPr/>
          <p:nvPr/>
        </p:nvSpPr>
        <p:spPr>
          <a:xfrm>
            <a:off x="847725" y="2009775"/>
            <a:ext cx="209550" cy="209550"/>
          </a:xfrm>
          <a:prstGeom prst="ellipse">
            <a:avLst/>
          </a:prstGeom>
          <a:solidFill>
            <a:srgbClr val="0369A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3045" y="2073116"/>
            <a:ext cx="589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30618" y="2066449"/>
            <a:ext cx="41899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Forward Problem — Predict sensory consequences of actions</a:t>
            </a:r>
          </a:p>
        </p:txBody>
      </p:sp>
      <p:sp>
        <p:nvSpPr>
          <p:cNvPr id="12" name="Ellipse 12"/>
          <p:cNvSpPr/>
          <p:nvPr/>
        </p:nvSpPr>
        <p:spPr>
          <a:xfrm>
            <a:off x="847725" y="2295525"/>
            <a:ext cx="209550" cy="209550"/>
          </a:xfrm>
          <a:prstGeom prst="ellipse">
            <a:avLst/>
          </a:prstGeom>
          <a:solidFill>
            <a:srgbClr val="0369A1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907231" y="2358866"/>
            <a:ext cx="9053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30618" y="2352199"/>
            <a:ext cx="433232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Inverse Problem — Convert sensory goals into motor commands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24865" y="2725102"/>
            <a:ext cx="333563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369A1"/>
                </a:solidFill>
                <a:latin typeface="Segoe UI"/>
                <a:ea typeface="Microsoft YaHei"/>
                <a:cs typeface="Segoe UI"/>
              </a:rPr>
              <a:t>Theoretical Backbone: Corollary Discharge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6770" y="2969895"/>
            <a:ext cx="437369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Motor command copy broadcast to sensory cortex before movement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27722" y="3206591"/>
            <a:ext cx="391282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Schneider et al. (2018) Nature — mouse A1 develops a learned filter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286500" y="952500"/>
            <a:ext cx="5334000" cy="2667000"/>
          </a:xfrm>
          <a:prstGeom prst="roundRect">
            <a:avLst>
              <a:gd name="adj" fmla="val 2857"/>
            </a:avLst>
          </a:prstGeom>
          <a:solidFill>
            <a:srgbClr val="F8FAFC"/>
          </a:solidFill>
          <a:ln w="14288">
            <a:solidFill>
              <a:srgbClr val="CBD5E1"/>
            </a:solidFill>
            <a:prstDash val="lgDash"/>
          </a:ln>
        </p:spPr>
      </p:sp>
      <p:sp>
        <p:nvSpPr>
          <p:cNvPr id="19" name="TextBox 19"/>
          <p:cNvSpPr txBox="1"/>
          <p:nvPr/>
        </p:nvSpPr>
        <p:spPr>
          <a:xfrm>
            <a:off x="7374731" y="2133124"/>
            <a:ext cx="315753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i="1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[Figure: Forward &amp; Inverse Model Schematic]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470017" y="2368391"/>
            <a:ext cx="296696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i="1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Kawato 1999 framework applied to auditory domain</a:t>
            </a:r>
          </a:p>
        </p:txBody>
      </p:sp>
      <p:sp>
        <p:nvSpPr>
          <p:cNvPr id="21" name="Rectangle 21"/>
          <p:cNvSpPr/>
          <p:nvPr/>
        </p:nvSpPr>
        <p:spPr>
          <a:xfrm>
            <a:off x="571500" y="3905250"/>
            <a:ext cx="5334000" cy="2619375"/>
          </a:xfrm>
          <a:prstGeom prst="roundRect">
            <a:avLst>
              <a:gd name="adj" fmla="val 43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822960" y="4080510"/>
            <a:ext cx="251479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C4A6E"/>
                </a:solidFill>
                <a:latin typeface="Segoe UI"/>
                <a:ea typeface="Microsoft YaHei"/>
                <a:cs typeface="Segoe UI"/>
              </a:rPr>
              <a:t>Three Unresolved Questions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25818" y="4466749"/>
            <a:ext cx="168442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369A1"/>
                </a:solidFill>
                <a:latin typeface="Segoe UI"/>
                <a:ea typeface="Microsoft YaHei"/>
                <a:cs typeface="Segoe UI"/>
              </a:rPr>
              <a:t>Q1 · Cortical Hierarchy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26770" y="4684395"/>
            <a:ext cx="466286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Are predictions generated in A1 or inherited from higher auditory areas?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25818" y="5038249"/>
            <a:ext cx="16619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369A1"/>
                </a:solidFill>
                <a:latin typeface="Segoe UI"/>
                <a:ea typeface="Microsoft YaHei"/>
                <a:cs typeface="Segoe UI"/>
              </a:rPr>
              <a:t>Q2 · Multiple Mappings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26770" y="5255895"/>
            <a:ext cx="505063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How does the brain store and switch between distinct sensorimotor mappings?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5818" y="5609749"/>
            <a:ext cx="187132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369A1"/>
                </a:solidFill>
                <a:latin typeface="Segoe UI"/>
                <a:ea typeface="Microsoft YaHei"/>
                <a:cs typeface="Segoe UI"/>
              </a:rPr>
              <a:t>Q3 · Inverse Computation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26770" y="5827395"/>
            <a:ext cx="497833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How are auditory targets converted into motor commands during production?</a:t>
            </a:r>
          </a:p>
        </p:txBody>
      </p:sp>
      <p:sp>
        <p:nvSpPr>
          <p:cNvPr id="29" name="Rectangle 29"/>
          <p:cNvSpPr/>
          <p:nvPr/>
        </p:nvSpPr>
        <p:spPr>
          <a:xfrm>
            <a:off x="6286500" y="3905250"/>
            <a:ext cx="5334000" cy="2619375"/>
          </a:xfrm>
          <a:prstGeom prst="roundRect">
            <a:avLst>
              <a:gd name="adj" fmla="val 4364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6537960" y="4080510"/>
            <a:ext cx="11346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C4A6E"/>
                </a:solidFill>
                <a:latin typeface="Segoe UI"/>
                <a:ea typeface="Microsoft YaHei"/>
                <a:cs typeface="Segoe UI"/>
              </a:rPr>
              <a:t>Why Ferret?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540818" y="4419124"/>
            <a:ext cx="475240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Gyrencephalic carnivore with well-characterized auditory hierarchy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540818" y="4676299"/>
            <a:ext cx="463136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Accessible premotor cortex for chronic multi-electrode recording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540818" y="4933474"/>
            <a:ext cx="387665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Robust cortical plasticity during auditory task learning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539865" y="5315902"/>
            <a:ext cx="456743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369A1"/>
                </a:solidFill>
                <a:latin typeface="Segoe UI"/>
                <a:ea typeface="Microsoft YaHei"/>
                <a:cs typeface="Segoe UI"/>
              </a:rPr>
              <a:t>First platform for single-neuron auditory-motor learning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539865" y="5563552"/>
            <a:ext cx="297333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369A1"/>
                </a:solidFill>
                <a:latin typeface="Segoe UI"/>
                <a:ea typeface="Microsoft YaHei"/>
                <a:cs typeface="Segoe UI"/>
              </a:rPr>
              <a:t>across the naïve → expert trajectory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550729" y="6586538"/>
            <a:ext cx="7929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4830" y="268605"/>
            <a:ext cx="262966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C4A6E"/>
                </a:solidFill>
                <a:latin typeface="Segoe UI"/>
                <a:ea typeface="Microsoft YaHei"/>
                <a:cs typeface="Segoe UI"/>
              </a:rPr>
              <a:t>Preliminary Data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6260" y="613410"/>
            <a:ext cx="394754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The Closed-Loop Frequency-Tracking Paradigm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904875"/>
            <a:ext cx="762000" cy="9525"/>
          </a:xfrm>
          <a:custGeom>
            <a:avLst/>
            <a:gdLst/>
            <a:ahLst/>
            <a:cxnLst/>
            <a:rect l="l" t="t" r="r" b="b"/>
            <a:pathLst>
              <a:path w="762000" h="9525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/>
          <a:ln w="28575">
            <a:solidFill>
              <a:srgbClr val="7DD3FC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571500" y="1143000"/>
            <a:ext cx="4953000" cy="2667000"/>
          </a:xfrm>
          <a:prstGeom prst="roundRect">
            <a:avLst>
              <a:gd name="adj" fmla="val 4286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822960" y="1318260"/>
            <a:ext cx="175109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C4A6E"/>
                </a:solidFill>
                <a:latin typeface="Segoe UI"/>
                <a:ea typeface="Microsoft YaHei"/>
                <a:cs typeface="Segoe UI"/>
              </a:rPr>
              <a:t>Experimental Setup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25818" y="1628299"/>
            <a:ext cx="32999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Real-time: snout position → acoustic frequency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26770" y="1864995"/>
            <a:ext cx="238887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in head-fixed, freely moving ferrets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25818" y="2161699"/>
            <a:ext cx="423976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Interleaved: Closed-Loop (Tracking) vs. Open-Loop Playback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26770" y="2379345"/>
            <a:ext cx="280292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Identical acoustics — different contingency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25818" y="2676049"/>
            <a:ext cx="255234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32-channel tungsten floating arrays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26770" y="2912745"/>
            <a:ext cx="333527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Chronically implanted in A1 — same units over months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25818" y="3285649"/>
            <a:ext cx="36132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369A1"/>
                </a:solidFill>
                <a:latin typeface="Segoe UI"/>
                <a:ea typeface="Microsoft YaHei"/>
                <a:cs typeface="Segoe UI"/>
              </a:rPr>
              <a:t>First platform for single-neuron auditory-motor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25818" y="3495199"/>
            <a:ext cx="338893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369A1"/>
                </a:solidFill>
                <a:latin typeface="Segoe UI"/>
                <a:ea typeface="Microsoft YaHei"/>
                <a:cs typeface="Segoe UI"/>
              </a:rPr>
              <a:t>learning across the naïve → expert trajectory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905500" y="1143000"/>
            <a:ext cx="5715000" cy="5381625"/>
          </a:xfrm>
          <a:prstGeom prst="roundRect">
            <a:avLst>
              <a:gd name="adj" fmla="val 1416"/>
            </a:avLst>
          </a:prstGeom>
          <a:solidFill>
            <a:srgbClr val="F8FAFC"/>
          </a:solidFill>
          <a:ln w="14288">
            <a:solidFill>
              <a:srgbClr val="CBD5E1"/>
            </a:solidFill>
            <a:prstDash val="lgDash"/>
          </a:ln>
        </p:spPr>
      </p:sp>
      <p:sp>
        <p:nvSpPr>
          <p:cNvPr id="17" name="TextBox 17"/>
          <p:cNvSpPr txBox="1"/>
          <p:nvPr/>
        </p:nvSpPr>
        <p:spPr>
          <a:xfrm>
            <a:off x="7300484" y="2267902"/>
            <a:ext cx="29250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i="1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[Figure 1 — 6 panels from PhD proposal]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915031" y="2577941"/>
            <a:ext cx="369593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i="1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(A) Closed-loop paradigm: snout position → acoustic frequency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026485" y="2816066"/>
            <a:ext cx="347302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i="1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(B) Representative trial: head position + played frequency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707261" y="3054191"/>
            <a:ext cx="211147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i="1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(C) PSTH aligned to movement onset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237345" y="3292316"/>
            <a:ext cx="30513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i="1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(D) A1 firing rate stratified by head speed quintiles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180112" y="3530441"/>
            <a:ext cx="316577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i="1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(E) Population decoding accuracy: CL &gt; OL (p &lt; 0.001)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84908" y="3768566"/>
            <a:ext cx="375618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i="1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(F) Noise correlations A1-PMC: CL &gt; OL, increases with learning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550729" y="6586538"/>
            <a:ext cx="7929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4830" y="268605"/>
            <a:ext cx="262966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C4A6E"/>
                </a:solidFill>
                <a:latin typeface="Segoe UI"/>
                <a:ea typeface="Microsoft YaHei"/>
                <a:cs typeface="Segoe UI"/>
              </a:rPr>
              <a:t>Preliminary Data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6260" y="613410"/>
            <a:ext cx="276453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Four Key Findings After Training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904875"/>
            <a:ext cx="762000" cy="9525"/>
          </a:xfrm>
          <a:custGeom>
            <a:avLst/>
            <a:gdLst/>
            <a:ahLst/>
            <a:cxnLst/>
            <a:rect l="l" t="t" r="r" b="b"/>
            <a:pathLst>
              <a:path w="762000" h="9525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/>
          <a:ln w="28575">
            <a:solidFill>
              <a:srgbClr val="7DD3FC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571500" y="1143000"/>
            <a:ext cx="5334000" cy="2476500"/>
          </a:xfrm>
          <a:prstGeom prst="roundRect">
            <a:avLst>
              <a:gd name="adj" fmla="val 4615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823912" y="1326356"/>
            <a:ext cx="181417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369A1"/>
                </a:solidFill>
                <a:latin typeface="Segoe UI"/>
                <a:ea typeface="Microsoft YaHei"/>
                <a:cs typeface="Segoe UI"/>
              </a:rPr>
              <a:t>1. Anticipatory Signal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25818" y="1609249"/>
            <a:ext cx="39763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Preparatory activity 200–300 ms before movement onset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26770" y="1845945"/>
            <a:ext cx="21851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Exclusive to closed-loop condition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25818" y="2104549"/>
            <a:ext cx="38196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Builds progressively: Expert &gt; Intermediate &gt; Beginner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25818" y="2466499"/>
            <a:ext cx="413296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→ Correlate of sensorimotor learning, not a fixed property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26770" y="2855595"/>
            <a:ext cx="380190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Absent in open-loop sound and passive movement conditions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26770" y="3217545"/>
            <a:ext cx="376904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Signal strength scales with weeks of closed-loop exposure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286500" y="1143000"/>
            <a:ext cx="5334000" cy="2476500"/>
          </a:xfrm>
          <a:prstGeom prst="roundRect">
            <a:avLst>
              <a:gd name="adj" fmla="val 4615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6538912" y="1326356"/>
            <a:ext cx="184005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369A1"/>
                </a:solidFill>
                <a:latin typeface="Segoe UI"/>
                <a:ea typeface="Microsoft YaHei"/>
                <a:cs typeface="Segoe UI"/>
              </a:rPr>
              <a:t>2. Kinematic Encoding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540818" y="1609249"/>
            <a:ext cx="373425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A1 firing rate systematically modulated by head speed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541770" y="1884045"/>
            <a:ext cx="360473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Population-level decoding of head speed from A1 activity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539865" y="2172652"/>
            <a:ext cx="34563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369A1"/>
                </a:solidFill>
                <a:latin typeface="Segoe UI"/>
                <a:ea typeface="Microsoft YaHei"/>
                <a:cs typeface="Segoe UI"/>
              </a:rPr>
              <a:t>Decoding accuracy: Closed-loop &gt; Open-loop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540818" y="2447449"/>
            <a:ext cx="168371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Wilcoxon test, p &lt; 0.001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540818" y="2847499"/>
            <a:ext cx="366305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→ A1 encodes movement parameters as a consequence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540818" y="3133249"/>
            <a:ext cx="28585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of the learned sensorimotor contingency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71500" y="3905250"/>
            <a:ext cx="5334000" cy="2476500"/>
          </a:xfrm>
          <a:prstGeom prst="roundRect">
            <a:avLst>
              <a:gd name="adj" fmla="val 4615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823912" y="4088606"/>
            <a:ext cx="346175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369A1"/>
                </a:solidFill>
                <a:latin typeface="Segoe UI"/>
                <a:ea typeface="Microsoft YaHei"/>
                <a:cs typeface="Segoe UI"/>
              </a:rPr>
              <a:t>3. Sharpened Frequency Representations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25818" y="4390549"/>
            <a:ext cx="369865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Sensorimotor experience sculpts sensory tuning in A1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25818" y="4714399"/>
            <a:ext cx="424688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→ Experience-dependent plasticity in primary sensory cortex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26770" y="5141595"/>
            <a:ext cx="387419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Frequency discrimination improves with closed-loop training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6770" y="5427345"/>
            <a:ext cx="421595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Receptive fields narrow around behaviorally relevant frequencies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286500" y="3905250"/>
            <a:ext cx="5334000" cy="2476500"/>
          </a:xfrm>
          <a:prstGeom prst="roundRect">
            <a:avLst>
              <a:gd name="adj" fmla="val 4615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6538912" y="4088606"/>
            <a:ext cx="274579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369A1"/>
                </a:solidFill>
                <a:latin typeface="Segoe UI"/>
                <a:ea typeface="Microsoft YaHei"/>
                <a:cs typeface="Segoe UI"/>
              </a:rPr>
              <a:t>4. Strengthened A1-PMC Coupling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540818" y="4390549"/>
            <a:ext cx="34850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Noise correlations between A1 &amp; Premotor Cortex: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539865" y="4706302"/>
            <a:ext cx="279621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369A1"/>
                </a:solidFill>
                <a:latin typeface="Segoe UI"/>
                <a:ea typeface="Microsoft YaHei"/>
                <a:cs typeface="Segoe UI"/>
              </a:rPr>
              <a:t>Closed-loop &gt; Open-loop (p &lt; 0.001)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540818" y="5038249"/>
            <a:ext cx="306497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Increases progressively with learning stage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540818" y="5419249"/>
            <a:ext cx="28585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→ Consolidation of premotor-to-auditory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540818" y="5685949"/>
            <a:ext cx="379121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functional connectivity underlying learned predictions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550729" y="6586538"/>
            <a:ext cx="7929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4830" y="268605"/>
            <a:ext cx="306441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C4A6E"/>
                </a:solidFill>
                <a:latin typeface="Segoe UI"/>
                <a:ea typeface="Microsoft YaHei"/>
                <a:cs typeface="Segoe UI"/>
              </a:rPr>
              <a:t>Working Hypothesis</a:t>
            </a:r>
          </a:p>
        </p:txBody>
      </p:sp>
      <p:sp>
        <p:nvSpPr>
          <p:cNvPr id="4" name="Line 4"/>
          <p:cNvSpPr/>
          <p:nvPr/>
        </p:nvSpPr>
        <p:spPr>
          <a:xfrm>
            <a:off x="571500" y="647700"/>
            <a:ext cx="762000" cy="9525"/>
          </a:xfrm>
          <a:custGeom>
            <a:avLst/>
            <a:gdLst/>
            <a:ahLst/>
            <a:cxnLst/>
            <a:rect l="l" t="t" r="r" b="b"/>
            <a:pathLst>
              <a:path w="762000" h="9525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/>
          <a:ln w="28575">
            <a:solidFill>
              <a:srgbClr val="7DD3FC"/>
            </a:solidFill>
          </a:ln>
        </p:spPr>
      </p:sp>
      <p:sp>
        <p:nvSpPr>
          <p:cNvPr id="5" name="Rectangle 5"/>
          <p:cNvSpPr/>
          <p:nvPr/>
        </p:nvSpPr>
        <p:spPr>
          <a:xfrm>
            <a:off x="571500" y="952500"/>
            <a:ext cx="11049000" cy="857250"/>
          </a:xfrm>
          <a:prstGeom prst="roundRect">
            <a:avLst>
              <a:gd name="adj" fmla="val 13333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1854934" y="1193006"/>
            <a:ext cx="848213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0C4A6E"/>
                </a:solidFill>
                <a:latin typeface="Segoe UI"/>
                <a:ea typeface="Microsoft YaHei"/>
                <a:cs typeface="Segoe UI"/>
              </a:rPr>
              <a:t>Sensorimotor learning strengthens correlated activity between PMC neurons encoding movement and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46308" y="1440656"/>
            <a:ext cx="849938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0C4A6E"/>
                </a:solidFill>
                <a:latin typeface="Segoe UI"/>
                <a:ea typeface="Microsoft YaHei"/>
                <a:cs typeface="Segoe UI"/>
              </a:rPr>
              <a:t>A1 neurons encoding acoustic frequency — establishing a learned forward model in the A1-PMC circuit.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2095500"/>
            <a:ext cx="5810250" cy="3333750"/>
          </a:xfrm>
          <a:prstGeom prst="roundRect">
            <a:avLst>
              <a:gd name="adj" fmla="val 34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822960" y="2270760"/>
            <a:ext cx="220195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369A1"/>
                </a:solidFill>
                <a:latin typeface="Segoe UI"/>
                <a:ea typeface="Microsoft YaHei"/>
                <a:cs typeface="Segoe UI"/>
              </a:rPr>
              <a:t>Circuit-Level Mechanism</a:t>
            </a:r>
          </a:p>
        </p:txBody>
      </p:sp>
      <p:sp>
        <p:nvSpPr>
          <p:cNvPr id="10" name="Ellipse 10"/>
          <p:cNvSpPr/>
          <p:nvPr/>
        </p:nvSpPr>
        <p:spPr>
          <a:xfrm>
            <a:off x="847725" y="2657475"/>
            <a:ext cx="209550" cy="209550"/>
          </a:xfrm>
          <a:prstGeom prst="ellipse">
            <a:avLst/>
          </a:prstGeom>
          <a:solidFill>
            <a:srgbClr val="0369A1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925723" y="2728912"/>
            <a:ext cx="5355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49668" y="2714149"/>
            <a:ext cx="322873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PMC → A1 projections carry corollary discharge</a:t>
            </a:r>
          </a:p>
        </p:txBody>
      </p:sp>
      <p:sp>
        <p:nvSpPr>
          <p:cNvPr id="13" name="Ellipse 13"/>
          <p:cNvSpPr/>
          <p:nvPr/>
        </p:nvSpPr>
        <p:spPr>
          <a:xfrm>
            <a:off x="847725" y="3019425"/>
            <a:ext cx="209550" cy="209550"/>
          </a:xfrm>
          <a:prstGeom prst="ellipse">
            <a:avLst/>
          </a:prstGeom>
          <a:solidFill>
            <a:srgbClr val="0369A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911346" y="3090862"/>
            <a:ext cx="8230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49668" y="3076099"/>
            <a:ext cx="364881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Closed-loop experience potentiates PMC-A1 synapses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64920" y="3274695"/>
            <a:ext cx="326955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encoding the specific position → frequency mapping</a:t>
            </a:r>
          </a:p>
        </p:txBody>
      </p:sp>
      <p:sp>
        <p:nvSpPr>
          <p:cNvPr id="17" name="Ellipse 17"/>
          <p:cNvSpPr/>
          <p:nvPr/>
        </p:nvSpPr>
        <p:spPr>
          <a:xfrm>
            <a:off x="847725" y="3590925"/>
            <a:ext cx="209550" cy="209550"/>
          </a:xfrm>
          <a:prstGeom prst="ellipse">
            <a:avLst/>
          </a:prstGeom>
          <a:solidFill>
            <a:srgbClr val="0369A1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911346" y="3662362"/>
            <a:ext cx="8230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49668" y="3647599"/>
            <a:ext cx="40475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Motor command → PMC → A1 pre-activates frequency-tuned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64920" y="3846195"/>
            <a:ext cx="35915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neurons BEFORE sound onset (= the anticipatory signal)</a:t>
            </a:r>
          </a:p>
        </p:txBody>
      </p:sp>
      <p:sp>
        <p:nvSpPr>
          <p:cNvPr id="21" name="Ellipse 21"/>
          <p:cNvSpPr/>
          <p:nvPr/>
        </p:nvSpPr>
        <p:spPr>
          <a:xfrm>
            <a:off x="847725" y="4162425"/>
            <a:ext cx="209550" cy="209550"/>
          </a:xfrm>
          <a:prstGeom prst="ellipse">
            <a:avLst/>
          </a:prstGeom>
          <a:solidFill>
            <a:srgbClr val="0369A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911346" y="4233862"/>
            <a:ext cx="8230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49668" y="4219099"/>
            <a:ext cx="438928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Prediction error (actual − predicted) drives ongoing plasticity</a:t>
            </a:r>
          </a:p>
        </p:txBody>
      </p:sp>
      <p:sp>
        <p:nvSpPr>
          <p:cNvPr id="24" name="Ellipse 24"/>
          <p:cNvSpPr/>
          <p:nvPr/>
        </p:nvSpPr>
        <p:spPr>
          <a:xfrm>
            <a:off x="847725" y="4638675"/>
            <a:ext cx="209550" cy="209550"/>
          </a:xfrm>
          <a:prstGeom prst="ellipse">
            <a:avLst/>
          </a:prstGeom>
          <a:solidFill>
            <a:srgbClr val="0369A1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911346" y="4710112"/>
            <a:ext cx="8230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5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49668" y="4695349"/>
            <a:ext cx="479512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Multiple mappings → distinct synaptic patterns, context-retrievable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762750" y="2095500"/>
            <a:ext cx="4857750" cy="3333750"/>
          </a:xfrm>
          <a:prstGeom prst="roundRect">
            <a:avLst>
              <a:gd name="adj" fmla="val 2286"/>
            </a:avLst>
          </a:prstGeom>
          <a:solidFill>
            <a:srgbClr val="F8FAFC"/>
          </a:solidFill>
          <a:ln w="14288">
            <a:solidFill>
              <a:srgbClr val="CBD5E1"/>
            </a:solidFill>
            <a:prstDash val="lgDash"/>
          </a:ln>
        </p:spPr>
      </p:sp>
      <p:sp>
        <p:nvSpPr>
          <p:cNvPr id="28" name="TextBox 28"/>
          <p:cNvSpPr txBox="1"/>
          <p:nvPr/>
        </p:nvSpPr>
        <p:spPr>
          <a:xfrm>
            <a:off x="7961733" y="3037999"/>
            <a:ext cx="24597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i="1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[Figure: A1-PMC Circuit Schematic]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909965" y="3292316"/>
            <a:ext cx="25633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i="1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Motor Command → PMC → Corollary Discharge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443139" y="3511391"/>
            <a:ext cx="14969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i="1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→ A1 Frequency Prediction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187095" y="3730466"/>
            <a:ext cx="200906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i="1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→ Compare with Auditory Feedback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289512" y="3949541"/>
            <a:ext cx="180422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i="1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→ Prediction Error → Plasticity</a:t>
            </a:r>
          </a:p>
        </p:txBody>
      </p:sp>
      <p:sp>
        <p:nvSpPr>
          <p:cNvPr id="33" name="Rectangle 33"/>
          <p:cNvSpPr/>
          <p:nvPr/>
        </p:nvSpPr>
        <p:spPr>
          <a:xfrm>
            <a:off x="571500" y="5715000"/>
            <a:ext cx="11049000" cy="619125"/>
          </a:xfrm>
          <a:prstGeom prst="roundRect">
            <a:avLst>
              <a:gd name="adj" fmla="val 1230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3064204" y="5892641"/>
            <a:ext cx="606359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Testable Predictions: (1) Signal specific to learned mappings | (2) PMC inactivation abolishes the signal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052155" y="6083141"/>
            <a:ext cx="608768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(3) Remapping → old predictions fade, new emerge | (4) Latent representations coexist in A1-PMC space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550729" y="6586538"/>
            <a:ext cx="7929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4830" y="268605"/>
            <a:ext cx="576955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C4A6E"/>
                </a:solidFill>
                <a:latin typeface="Segoe UI"/>
                <a:ea typeface="Microsoft YaHei"/>
                <a:cs typeface="Segoe UI"/>
              </a:rPr>
              <a:t>Three Scientific Goals &amp; Methodology</a:t>
            </a:r>
          </a:p>
        </p:txBody>
      </p:sp>
      <p:sp>
        <p:nvSpPr>
          <p:cNvPr id="4" name="Line 4"/>
          <p:cNvSpPr/>
          <p:nvPr/>
        </p:nvSpPr>
        <p:spPr>
          <a:xfrm>
            <a:off x="571500" y="647700"/>
            <a:ext cx="762000" cy="9525"/>
          </a:xfrm>
          <a:custGeom>
            <a:avLst/>
            <a:gdLst/>
            <a:ahLst/>
            <a:cxnLst/>
            <a:rect l="l" t="t" r="r" b="b"/>
            <a:pathLst>
              <a:path w="762000" h="9525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/>
          <a:ln w="28575">
            <a:solidFill>
              <a:srgbClr val="7DD3FC"/>
            </a:solidFill>
          </a:ln>
        </p:spPr>
      </p:sp>
      <p:sp>
        <p:nvSpPr>
          <p:cNvPr id="5" name="Rectangle 5"/>
          <p:cNvSpPr/>
          <p:nvPr/>
        </p:nvSpPr>
        <p:spPr>
          <a:xfrm>
            <a:off x="571500" y="952500"/>
            <a:ext cx="3486150" cy="4286250"/>
          </a:xfrm>
          <a:prstGeom prst="roundRect">
            <a:avLst>
              <a:gd name="adj" fmla="val 3279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823912" y="1193006"/>
            <a:ext cx="46850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369A1"/>
                </a:solidFill>
                <a:latin typeface="Segoe UI"/>
                <a:ea typeface="Microsoft YaHei"/>
                <a:cs typeface="Segoe UI"/>
              </a:rPr>
              <a:t>Goal 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24865" y="1429702"/>
            <a:ext cx="145974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C4A6E"/>
                </a:solidFill>
                <a:latin typeface="Segoe UI"/>
                <a:ea typeface="Microsoft YaHei"/>
                <a:cs typeface="Segoe UI"/>
              </a:rPr>
              <a:t>Cortical Hierarchy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26770" y="1712595"/>
            <a:ext cx="490604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Map sensorimotor signal distribution across the auditory cortical hierarchy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25818" y="2180749"/>
            <a:ext cx="68264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369A1"/>
                </a:solidFill>
                <a:latin typeface="Segoe UI"/>
                <a:ea typeface="Microsoft YaHei"/>
                <a:cs typeface="Segoe UI"/>
              </a:rPr>
              <a:t>Approach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26770" y="2474595"/>
            <a:ext cx="20339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• Neuropixels 2.0 + 32ch arrays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26770" y="2722245"/>
            <a:ext cx="213255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• Record A1, belt (AAF/PSF), PMC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26770" y="2969895"/>
            <a:ext cx="198796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• Compare anticipatory signal,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02970" y="3160395"/>
            <a:ext cx="213255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kinematic encoding, correlations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26770" y="3427095"/>
            <a:ext cx="163306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• Granger causality &amp; PDC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02970" y="3617595"/>
            <a:ext cx="16002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top-down vs. bottom-up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343400" y="952500"/>
            <a:ext cx="3486150" cy="4286250"/>
          </a:xfrm>
          <a:prstGeom prst="roundRect">
            <a:avLst>
              <a:gd name="adj" fmla="val 3279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4595812" y="1193006"/>
            <a:ext cx="51163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369A1"/>
                </a:solidFill>
                <a:latin typeface="Segoe UI"/>
                <a:ea typeface="Microsoft YaHei"/>
                <a:cs typeface="Segoe UI"/>
              </a:rPr>
              <a:t>Goal 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596765" y="1429702"/>
            <a:ext cx="17898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C4A6E"/>
                </a:solidFill>
                <a:latin typeface="Segoe UI"/>
                <a:ea typeface="Microsoft YaHei"/>
                <a:cs typeface="Segoe UI"/>
              </a:rPr>
              <a:t>Multi-Mapping Storage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598670" y="1712595"/>
            <a:ext cx="489947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Characterize storage and retrieval of multiple position→frequency mappings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97718" y="2180749"/>
            <a:ext cx="68264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369A1"/>
                </a:solidFill>
                <a:latin typeface="Segoe UI"/>
                <a:ea typeface="Microsoft YaHei"/>
                <a:cs typeface="Segoe UI"/>
              </a:rPr>
              <a:t>Approach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598670" y="2474595"/>
            <a:ext cx="144246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• 2+ distinct mappings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02970" y="2684145"/>
            <a:ext cx="151476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reversed or orthogonal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598670" y="2931795"/>
            <a:ext cx="14161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• Alternated in blocks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598670" y="3179445"/>
            <a:ext cx="175793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• Probe switching dynamics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598670" y="3427095"/>
            <a:ext cx="231000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• dPCA: mapping-specific subspaces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598670" y="3674745"/>
            <a:ext cx="15081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• Latent factor models</a:t>
            </a:r>
          </a:p>
        </p:txBody>
      </p:sp>
      <p:sp>
        <p:nvSpPr>
          <p:cNvPr id="27" name="Rectangle 27"/>
          <p:cNvSpPr/>
          <p:nvPr/>
        </p:nvSpPr>
        <p:spPr>
          <a:xfrm>
            <a:off x="8115300" y="952500"/>
            <a:ext cx="3505200" cy="4286250"/>
          </a:xfrm>
          <a:prstGeom prst="roundRect">
            <a:avLst>
              <a:gd name="adj" fmla="val 3261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8367712" y="1193006"/>
            <a:ext cx="51163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369A1"/>
                </a:solidFill>
                <a:latin typeface="Segoe UI"/>
                <a:ea typeface="Microsoft YaHei"/>
                <a:cs typeface="Segoe UI"/>
              </a:rPr>
              <a:t>Goal 3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368665" y="1429702"/>
            <a:ext cx="108940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C4A6E"/>
                </a:solidFill>
                <a:latin typeface="Segoe UI"/>
                <a:ea typeface="Microsoft YaHei"/>
                <a:cs typeface="Segoe UI"/>
              </a:rPr>
              <a:t>Inverse Model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370570" y="1712595"/>
            <a:ext cx="417652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Reveal how auditory targets are converted into motor commands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369618" y="2180749"/>
            <a:ext cx="68264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369A1"/>
                </a:solidFill>
                <a:latin typeface="Segoe UI"/>
                <a:ea typeface="Microsoft YaHei"/>
                <a:cs typeface="Segoe UI"/>
              </a:rPr>
              <a:t>Approach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370570" y="2474595"/>
            <a:ext cx="211940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• Target-frequency reward task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370570" y="2722245"/>
            <a:ext cx="199453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• Produce specific frequencies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02970" y="2931795"/>
            <a:ext cx="14227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on demand for reward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370570" y="3179445"/>
            <a:ext cx="202082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• Encoding models: sensory vs.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02970" y="3369945"/>
            <a:ext cx="163963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motor coordinate frames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370570" y="3617595"/>
            <a:ext cx="217855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• GPFA: goal-directed vs. passive</a:t>
            </a:r>
          </a:p>
        </p:txBody>
      </p:sp>
      <p:sp>
        <p:nvSpPr>
          <p:cNvPr id="38" name="Rectangle 38"/>
          <p:cNvSpPr/>
          <p:nvPr/>
        </p:nvSpPr>
        <p:spPr>
          <a:xfrm>
            <a:off x="571500" y="5524500"/>
            <a:ext cx="11049000" cy="47625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2390965" y="5732145"/>
            <a:ext cx="741006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Neuropixels 2.0 | Closed-loop VR | PCA · GPFA · dPCA | Granger Causality · PDC | Linear &amp; Nonlinear Population Decoding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550729" y="6586538"/>
            <a:ext cx="7929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4830" y="268605"/>
            <a:ext cx="254915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C4A6E"/>
                </a:solidFill>
                <a:latin typeface="Segoe UI"/>
                <a:ea typeface="Microsoft YaHei"/>
                <a:cs typeface="Segoe UI"/>
              </a:rPr>
              <a:t>Project Timeline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6260" y="613410"/>
            <a:ext cx="157276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48-Month PhD Plan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904875"/>
            <a:ext cx="762000" cy="9525"/>
          </a:xfrm>
          <a:custGeom>
            <a:avLst/>
            <a:gdLst/>
            <a:ahLst/>
            <a:cxnLst/>
            <a:rect l="l" t="t" r="r" b="b"/>
            <a:pathLst>
              <a:path w="762000" h="9525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/>
          <a:ln w="28575">
            <a:solidFill>
              <a:srgbClr val="7DD3FC"/>
            </a:solidFill>
          </a:ln>
        </p:spPr>
      </p:sp>
      <p:grpSp>
        <p:nvGrpSpPr>
          <p:cNvPr id="61" name="Group 61"/>
          <p:cNvGrpSpPr/>
          <p:nvPr/>
        </p:nvGrpSpPr>
        <p:grpSpPr>
          <a:xfrm>
            <a:off x="571500" y="1143000"/>
            <a:ext cx="11049000" cy="4419600"/>
            <a:chOff x="571500" y="1143000"/>
            <a:chExt cx="11049000" cy="4419600"/>
          </a:xfrm>
        </p:grpSpPr>
        <p:sp>
          <p:nvSpPr>
            <p:cNvPr id="6" name="Rectangle 6"/>
            <p:cNvSpPr/>
            <p:nvPr/>
          </p:nvSpPr>
          <p:spPr>
            <a:xfrm>
              <a:off x="571500" y="1143000"/>
              <a:ext cx="11049000" cy="381000"/>
            </a:xfrm>
            <a:prstGeom prst="roundRect">
              <a:avLst>
                <a:gd name="adj" fmla="val 15000"/>
              </a:avLst>
            </a:prstGeom>
            <a:solidFill>
              <a:srgbClr val="0C4A6E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987868" y="1285399"/>
              <a:ext cx="4359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Phase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702368" y="1285399"/>
              <a:ext cx="101906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Year 1 (M1–12)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893118" y="1285399"/>
              <a:ext cx="11760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Year 2 (M13–24)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083868" y="1285399"/>
              <a:ext cx="12134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Year 3 (M25–36)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274618" y="1285399"/>
              <a:ext cx="12134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Year 4 (M37–48)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71500" y="1533525"/>
              <a:ext cx="1905000" cy="1047750"/>
            </a:xfrm>
            <a:prstGeom prst="roundRect">
              <a:avLst>
                <a:gd name="adj" fmla="val 3636"/>
              </a:avLst>
            </a:prstGeom>
            <a:solidFill>
              <a:srgbClr val="F0F9F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92468" y="1685449"/>
              <a:ext cx="123586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C4A6E"/>
                  </a:solidFill>
                  <a:latin typeface="Segoe UI"/>
                  <a:ea typeface="Microsoft YaHei"/>
                  <a:cs typeface="Segoe UI"/>
                </a:rPr>
                <a:t>Goal 1: Hierarchy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486025" y="1533525"/>
              <a:ext cx="2190750" cy="104775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608898" y="1654016"/>
              <a:ext cx="14548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1A2E"/>
                  </a:solidFill>
                  <a:latin typeface="Segoe UI"/>
                  <a:ea typeface="Microsoft YaHei"/>
                  <a:cs typeface="Segoe UI"/>
                </a:rPr>
                <a:t>Surgery standardization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608898" y="1834991"/>
              <a:ext cx="123791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1A2E"/>
                  </a:solidFill>
                  <a:latin typeface="Segoe UI"/>
                  <a:ea typeface="Microsoft YaHei"/>
                  <a:cs typeface="Segoe UI"/>
                </a:rPr>
                <a:t>Paradigm refinement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608898" y="2101691"/>
              <a:ext cx="173524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0369A1"/>
                  </a:solidFill>
                  <a:latin typeface="Segoe UI"/>
                  <a:ea typeface="Microsoft YaHei"/>
                  <a:cs typeface="Segoe UI"/>
                </a:rPr>
                <a:t>Multi-area recordings begin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686300" y="1533525"/>
              <a:ext cx="2190750" cy="104775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809172" y="1654016"/>
              <a:ext cx="129213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1A2E"/>
                  </a:solidFill>
                  <a:latin typeface="Segoe UI"/>
                  <a:ea typeface="Microsoft YaHei"/>
                  <a:cs typeface="Segoe UI"/>
                </a:rPr>
                <a:t>Directed connectivity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809172" y="1834991"/>
              <a:ext cx="156324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1A2E"/>
                  </a:solidFill>
                  <a:latin typeface="Segoe UI"/>
                  <a:ea typeface="Microsoft YaHei"/>
                  <a:cs typeface="Segoe UI"/>
                </a:rPr>
                <a:t>Granger causality analysis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819650" y="2095500"/>
              <a:ext cx="952500" cy="209550"/>
            </a:xfrm>
            <a:prstGeom prst="roundRect">
              <a:avLst>
                <a:gd name="adj" fmla="val 36364"/>
              </a:avLst>
            </a:prstGeom>
            <a:solidFill>
              <a:srgbClr val="E0F2F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974201" y="2175034"/>
              <a:ext cx="643398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b="1" dirty="0">
                  <a:solidFill>
                    <a:srgbClr val="0369A1"/>
                  </a:solidFill>
                  <a:latin typeface="Segoe UI"/>
                  <a:ea typeface="Microsoft YaHei"/>
                  <a:cs typeface="Segoe UI"/>
                </a:rPr>
                <a:t>Manuscript 1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886575" y="1533525"/>
              <a:ext cx="2190750" cy="104775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9086850" y="1533525"/>
              <a:ext cx="2190750" cy="104775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71500" y="2590800"/>
              <a:ext cx="1905000" cy="1047750"/>
            </a:xfrm>
            <a:prstGeom prst="roundRect">
              <a:avLst>
                <a:gd name="adj" fmla="val 3636"/>
              </a:avLst>
            </a:prstGeom>
            <a:solidFill>
              <a:srgbClr val="F0F9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92468" y="2742724"/>
              <a:ext cx="158723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C4A6E"/>
                  </a:solidFill>
                  <a:latin typeface="Segoe UI"/>
                  <a:ea typeface="Microsoft YaHei"/>
                  <a:cs typeface="Segoe UI"/>
                </a:rPr>
                <a:t>Goal 2: Multi-Mapping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486025" y="2590800"/>
              <a:ext cx="2190750" cy="104775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608898" y="2758916"/>
              <a:ext cx="175000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1A2E"/>
                  </a:solidFill>
                  <a:latin typeface="Segoe UI"/>
                  <a:ea typeface="Microsoft YaHei"/>
                  <a:cs typeface="Segoe UI"/>
                </a:rPr>
                <a:t>Multi-mapping training begins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86300" y="2590800"/>
              <a:ext cx="2190750" cy="104775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809172" y="2758916"/>
              <a:ext cx="112947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1A2E"/>
                  </a:solidFill>
                  <a:latin typeface="Segoe UI"/>
                  <a:ea typeface="Microsoft YaHei"/>
                  <a:cs typeface="Segoe UI"/>
                </a:rPr>
                <a:t>Behavioral training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809172" y="2939891"/>
              <a:ext cx="175602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1A2E"/>
                  </a:solidFill>
                  <a:latin typeface="Segoe UI"/>
                  <a:ea typeface="Microsoft YaHei"/>
                  <a:cs typeface="Segoe UI"/>
                </a:rPr>
                <a:t>Storage/retrieval recordings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886575" y="2590800"/>
              <a:ext cx="2190750" cy="104775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009448" y="2758916"/>
              <a:ext cx="173193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1A2E"/>
                  </a:solidFill>
                  <a:latin typeface="Segoe UI"/>
                  <a:ea typeface="Microsoft YaHei"/>
                  <a:cs typeface="Segoe UI"/>
                </a:rPr>
                <a:t>dPCA &amp; latent factor analysis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019925" y="3000375"/>
              <a:ext cx="952500" cy="209550"/>
            </a:xfrm>
            <a:prstGeom prst="roundRect">
              <a:avLst>
                <a:gd name="adj" fmla="val 36364"/>
              </a:avLst>
            </a:prstGeom>
            <a:solidFill>
              <a:srgbClr val="E0F2FE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161537" y="3079909"/>
              <a:ext cx="669277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b="1" dirty="0">
                  <a:solidFill>
                    <a:srgbClr val="0369A1"/>
                  </a:solidFill>
                  <a:latin typeface="Segoe UI"/>
                  <a:ea typeface="Microsoft YaHei"/>
                  <a:cs typeface="Segoe UI"/>
                </a:rPr>
                <a:t>Manuscript 2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9086850" y="2590800"/>
              <a:ext cx="2190750" cy="104775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71500" y="3648075"/>
              <a:ext cx="1905000" cy="1047750"/>
            </a:xfrm>
            <a:prstGeom prst="roundRect">
              <a:avLst>
                <a:gd name="adj" fmla="val 3636"/>
              </a:avLst>
            </a:prstGeom>
            <a:solidFill>
              <a:srgbClr val="F0F9F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92468" y="3799999"/>
              <a:ext cx="15573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C4A6E"/>
                  </a:solidFill>
                  <a:latin typeface="Segoe UI"/>
                  <a:ea typeface="Microsoft YaHei"/>
                  <a:cs typeface="Segoe UI"/>
                </a:rPr>
                <a:t>Goal 3: Inverse Model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2486025" y="3648075"/>
              <a:ext cx="2190750" cy="104775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686300" y="3648075"/>
              <a:ext cx="2190750" cy="104775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809172" y="3816191"/>
              <a:ext cx="178615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1A2E"/>
                  </a:solidFill>
                  <a:latin typeface="Segoe UI"/>
                  <a:ea typeface="Microsoft YaHei"/>
                  <a:cs typeface="Segoe UI"/>
                </a:rPr>
                <a:t>Target-frequency task design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886575" y="3648075"/>
              <a:ext cx="2190750" cy="104775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009448" y="3816191"/>
              <a:ext cx="79209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1A2E"/>
                  </a:solidFill>
                  <a:latin typeface="Segoe UI"/>
                  <a:ea typeface="Microsoft YaHei"/>
                  <a:cs typeface="Segoe UI"/>
                </a:rPr>
                <a:t>Task training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009448" y="3997166"/>
              <a:ext cx="14849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1A2E"/>
                  </a:solidFill>
                  <a:latin typeface="Segoe UI"/>
                  <a:ea typeface="Microsoft YaHei"/>
                  <a:cs typeface="Segoe UI"/>
                </a:rPr>
                <a:t>Inverse model recordings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009448" y="4178141"/>
              <a:ext cx="138853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1A2E"/>
                  </a:solidFill>
                  <a:latin typeface="Segoe UI"/>
                  <a:ea typeface="Microsoft YaHei"/>
                  <a:cs typeface="Segoe UI"/>
                </a:rPr>
                <a:t>Encoding model analysis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9086850" y="3648075"/>
              <a:ext cx="2190750" cy="104775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209722" y="3816191"/>
              <a:ext cx="94873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1A2E"/>
                  </a:solidFill>
                  <a:latin typeface="Segoe UI"/>
                  <a:ea typeface="Microsoft YaHei"/>
                  <a:cs typeface="Segoe UI"/>
                </a:rPr>
                <a:t>Encoding models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9220200" y="4048125"/>
              <a:ext cx="952500" cy="209550"/>
            </a:xfrm>
            <a:prstGeom prst="roundRect">
              <a:avLst>
                <a:gd name="adj" fmla="val 36364"/>
              </a:avLst>
            </a:prstGeom>
            <a:solidFill>
              <a:srgbClr val="E0F2FE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361812" y="4127659"/>
              <a:ext cx="669277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b="1" dirty="0">
                  <a:solidFill>
                    <a:srgbClr val="0369A1"/>
                  </a:solidFill>
                  <a:latin typeface="Segoe UI"/>
                  <a:ea typeface="Microsoft YaHei"/>
                  <a:cs typeface="Segoe UI"/>
                </a:rPr>
                <a:t>Manuscript 3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71500" y="4705350"/>
              <a:ext cx="1905000" cy="857250"/>
            </a:xfrm>
            <a:prstGeom prst="roundRect">
              <a:avLst>
                <a:gd name="adj" fmla="val 4444"/>
              </a:avLst>
            </a:prstGeom>
            <a:solidFill>
              <a:srgbClr val="F0F9F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92468" y="4857274"/>
              <a:ext cx="85459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C4A6E"/>
                  </a:solidFill>
                  <a:latin typeface="Segoe UI"/>
                  <a:ea typeface="Microsoft YaHei"/>
                  <a:cs typeface="Segoe UI"/>
                </a:rPr>
                <a:t>Integration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2486025" y="4705350"/>
              <a:ext cx="2190750" cy="85725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4686300" y="4705350"/>
              <a:ext cx="2190750" cy="85725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4810125" y="4881562"/>
              <a:ext cx="107061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Conferences M10–45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810125" y="5062538"/>
              <a:ext cx="1015841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SfN · Cosyne · ARO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886575" y="4705350"/>
              <a:ext cx="2190750" cy="85725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010400" y="4881562"/>
              <a:ext cx="122943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Conferences continued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9086850" y="4705350"/>
              <a:ext cx="2190750" cy="85725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9209722" y="4873466"/>
              <a:ext cx="85234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1A2E"/>
                  </a:solidFill>
                  <a:latin typeface="Segoe UI"/>
                  <a:ea typeface="Microsoft YaHei"/>
                  <a:cs typeface="Segoe UI"/>
                </a:rPr>
                <a:t>Thesis writing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208770" y="5093970"/>
              <a:ext cx="14996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C4A6E"/>
                  </a:solidFill>
                  <a:latin typeface="Segoe UI"/>
                  <a:ea typeface="Microsoft YaHei"/>
                  <a:cs typeface="Segoe UI"/>
                </a:rPr>
                <a:t>PhD Defense (M47–48)</a:t>
              </a:r>
            </a:p>
          </p:txBody>
        </p:sp>
      </p:grpSp>
      <p:sp>
        <p:nvSpPr>
          <p:cNvPr id="62" name="TextBox 62"/>
          <p:cNvSpPr txBox="1"/>
          <p:nvPr/>
        </p:nvSpPr>
        <p:spPr>
          <a:xfrm>
            <a:off x="3778115" y="6578441"/>
            <a:ext cx="46357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Progressive autonomy: close guidance Year 1 → independent leadership Year 3–4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1550729" y="6586538"/>
            <a:ext cx="7929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1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1" grpId="0"/>
      <p:bldP spid="62" grpId="0"/>
      <p:bldP spid="6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4830" y="268605"/>
            <a:ext cx="623651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C4A6E"/>
                </a:solidFill>
                <a:latin typeface="Segoe UI"/>
                <a:ea typeface="Microsoft YaHei"/>
                <a:cs typeface="Segoe UI"/>
              </a:rPr>
              <a:t>Contribution to SDGs &amp; Planetary Health</a:t>
            </a:r>
          </a:p>
        </p:txBody>
      </p:sp>
      <p:sp>
        <p:nvSpPr>
          <p:cNvPr id="4" name="Line 4"/>
          <p:cNvSpPr/>
          <p:nvPr/>
        </p:nvSpPr>
        <p:spPr>
          <a:xfrm>
            <a:off x="571500" y="647700"/>
            <a:ext cx="762000" cy="9525"/>
          </a:xfrm>
          <a:custGeom>
            <a:avLst/>
            <a:gdLst/>
            <a:ahLst/>
            <a:cxnLst/>
            <a:rect l="l" t="t" r="r" b="b"/>
            <a:pathLst>
              <a:path w="762000" h="9525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/>
          <a:ln w="28575">
            <a:solidFill>
              <a:srgbClr val="7DD3FC"/>
            </a:solidFill>
          </a:ln>
        </p:spPr>
      </p:sp>
      <p:sp>
        <p:nvSpPr>
          <p:cNvPr id="5" name="Rectangle 5"/>
          <p:cNvSpPr/>
          <p:nvPr/>
        </p:nvSpPr>
        <p:spPr>
          <a:xfrm>
            <a:off x="571500" y="857250"/>
            <a:ext cx="2476500" cy="285750"/>
          </a:xfrm>
          <a:prstGeom prst="roundRect">
            <a:avLst>
              <a:gd name="adj" fmla="val 33333"/>
            </a:avLst>
          </a:prstGeom>
          <a:solidFill>
            <a:srgbClr val="E0F2FE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217300" y="958691"/>
            <a:ext cx="118490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0369A1"/>
                </a:solidFill>
                <a:latin typeface="Segoe UI"/>
                <a:ea typeface="Microsoft YaHei"/>
                <a:cs typeface="Segoe UI"/>
              </a:rPr>
              <a:t>SDG 3 · Good Health</a:t>
            </a:r>
          </a:p>
        </p:txBody>
      </p:sp>
      <p:sp>
        <p:nvSpPr>
          <p:cNvPr id="7" name="Rectangle 7"/>
          <p:cNvSpPr/>
          <p:nvPr/>
        </p:nvSpPr>
        <p:spPr>
          <a:xfrm>
            <a:off x="3190875" y="857250"/>
            <a:ext cx="1905000" cy="285750"/>
          </a:xfrm>
          <a:prstGeom prst="roundRect">
            <a:avLst>
              <a:gd name="adj" fmla="val 33333"/>
            </a:avLst>
          </a:prstGeom>
          <a:solidFill>
            <a:srgbClr val="E0F2FE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3604694" y="958691"/>
            <a:ext cx="107736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0369A1"/>
                </a:solidFill>
                <a:latin typeface="Segoe UI"/>
                <a:ea typeface="Microsoft YaHei"/>
                <a:cs typeface="Segoe UI"/>
              </a:rPr>
              <a:t>SDG 4 · Education</a:t>
            </a:r>
          </a:p>
        </p:txBody>
      </p:sp>
      <p:sp>
        <p:nvSpPr>
          <p:cNvPr id="9" name="Rectangle 9"/>
          <p:cNvSpPr/>
          <p:nvPr/>
        </p:nvSpPr>
        <p:spPr>
          <a:xfrm>
            <a:off x="5238750" y="857250"/>
            <a:ext cx="2190750" cy="285750"/>
          </a:xfrm>
          <a:prstGeom prst="roundRect">
            <a:avLst>
              <a:gd name="adj" fmla="val 33333"/>
            </a:avLst>
          </a:prstGeom>
          <a:solidFill>
            <a:srgbClr val="E0F2FE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5776467" y="958691"/>
            <a:ext cx="111531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0369A1"/>
                </a:solidFill>
                <a:latin typeface="Segoe UI"/>
                <a:ea typeface="Microsoft YaHei"/>
                <a:cs typeface="Segoe UI"/>
              </a:rPr>
              <a:t>SDG 9 · Innovation</a:t>
            </a:r>
          </a:p>
        </p:txBody>
      </p:sp>
      <p:sp>
        <p:nvSpPr>
          <p:cNvPr id="11" name="Rectangle 11"/>
          <p:cNvSpPr/>
          <p:nvPr/>
        </p:nvSpPr>
        <p:spPr>
          <a:xfrm>
            <a:off x="7572375" y="857250"/>
            <a:ext cx="2190750" cy="285750"/>
          </a:xfrm>
          <a:prstGeom prst="roundRect">
            <a:avLst>
              <a:gd name="adj" fmla="val 33333"/>
            </a:avLst>
          </a:prstGeom>
          <a:solidFill>
            <a:srgbClr val="E0F2FE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005716" y="958691"/>
            <a:ext cx="132406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0369A1"/>
                </a:solidFill>
                <a:latin typeface="Segoe UI"/>
                <a:ea typeface="Microsoft YaHei"/>
                <a:cs typeface="Segoe UI"/>
              </a:rPr>
              <a:t>SDG 17 · Partnerships</a:t>
            </a:r>
          </a:p>
        </p:txBody>
      </p:sp>
      <p:sp>
        <p:nvSpPr>
          <p:cNvPr id="13" name="Rectangle 13"/>
          <p:cNvSpPr/>
          <p:nvPr/>
        </p:nvSpPr>
        <p:spPr>
          <a:xfrm>
            <a:off x="571500" y="1333500"/>
            <a:ext cx="5334000" cy="2286000"/>
          </a:xfrm>
          <a:prstGeom prst="roundRect">
            <a:avLst>
              <a:gd name="adj" fmla="val 5000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823912" y="1516856"/>
            <a:ext cx="266815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369A1"/>
                </a:solidFill>
                <a:latin typeface="Segoe UI"/>
                <a:ea typeface="Microsoft YaHei"/>
                <a:cs typeface="Segoe UI"/>
              </a:rPr>
              <a:t>SDG 3 — Good Health &amp; Well-Being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26770" y="1845945"/>
            <a:ext cx="491261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Speech &amp; language disorders share a common mechanistic root: breakdown in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6770" y="2055495"/>
            <a:ext cx="56552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the auditory-motor circuits that predict, monitor, and correct self-generated sounds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26770" y="2360295"/>
            <a:ext cx="487975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BCI design depends on understanding how sensory cortices encode movement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25818" y="2656999"/>
            <a:ext cx="489159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369A1"/>
                </a:solidFill>
                <a:latin typeface="Segoe UI"/>
                <a:ea typeface="Microsoft YaHei"/>
                <a:cs typeface="Segoe UI"/>
              </a:rPr>
              <a:t>→ Implications for disorders affecting hundreds of millions globally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71500" y="3762375"/>
            <a:ext cx="5334000" cy="9525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825818" y="3961924"/>
            <a:ext cx="9517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369A1"/>
                </a:solidFill>
                <a:latin typeface="Segoe UI"/>
                <a:ea typeface="Microsoft YaHei"/>
                <a:cs typeface="Segoe UI"/>
              </a:rPr>
              <a:t>SDG 4 · 9 · 17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26770" y="4208145"/>
            <a:ext cx="39267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Open methods &amp; datasets → global scientific capacity building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26770" y="4436745"/>
            <a:ext cx="54515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Computational frameworks → transferable to international brain initiatives &amp; BCI R&amp;D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286500" y="1333500"/>
            <a:ext cx="5334000" cy="2286000"/>
          </a:xfrm>
          <a:prstGeom prst="roundRect">
            <a:avLst>
              <a:gd name="adj" fmla="val 5000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6538912" y="1516856"/>
            <a:ext cx="246975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369A1"/>
                </a:solidFill>
                <a:latin typeface="Segoe UI"/>
                <a:ea typeface="Microsoft YaHei"/>
                <a:cs typeface="Segoe UI"/>
              </a:rPr>
              <a:t>Planetary Health Perspective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541770" y="1845945"/>
            <a:ext cx="493233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Interdisciplinary research as a template: bridging single-neuron mechanisms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541770" y="2055495"/>
            <a:ext cx="477459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with complex behavioral phenomena — same integrative thinking needed for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541770" y="2265045"/>
            <a:ext cx="13373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planetary challenges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541770" y="2569845"/>
            <a:ext cx="528066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Global neurological disorder burden demands cross-border scientific collaboration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541770" y="2874645"/>
            <a:ext cx="499148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Ethical AI for health: biological forward/inverse models inspire interpretable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541770" y="3084195"/>
            <a:ext cx="37164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neural network architectures for clinical BCI applications</a:t>
            </a:r>
          </a:p>
        </p:txBody>
      </p:sp>
      <p:sp>
        <p:nvSpPr>
          <p:cNvPr id="31" name="Rectangle 31"/>
          <p:cNvSpPr/>
          <p:nvPr/>
        </p:nvSpPr>
        <p:spPr>
          <a:xfrm>
            <a:off x="6286500" y="3762375"/>
            <a:ext cx="5334000" cy="1571625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6538912" y="3945731"/>
            <a:ext cx="284930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369A1"/>
                </a:solidFill>
                <a:latin typeface="Segoe UI"/>
                <a:ea typeface="Microsoft YaHei"/>
                <a:cs typeface="Segoe UI"/>
              </a:rPr>
              <a:t>Responsible Research &amp; Post-2030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541770" y="4265295"/>
            <a:ext cx="44459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Best case: mechanistic knowledge informing neuroprosthetic devices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541770" y="4493895"/>
            <a:ext cx="516893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Key risk: over-interpretation of animal findings → mitigated by precise language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541770" y="4741545"/>
            <a:ext cx="403850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Post-2030: protect fundamental research as a global commons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541770" y="5008245"/>
            <a:ext cx="44262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Governance: analysis pipelines publicly released under FAIR principles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550729" y="6586538"/>
            <a:ext cx="7929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4830" y="268605"/>
            <a:ext cx="568904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C4A6E"/>
                </a:solidFill>
                <a:latin typeface="Segoe UI"/>
                <a:ea typeface="Microsoft YaHei"/>
                <a:cs typeface="Segoe UI"/>
              </a:rPr>
              <a:t>Why FIRE &amp; Learning Planet Institute</a:t>
            </a:r>
          </a:p>
        </p:txBody>
      </p:sp>
      <p:sp>
        <p:nvSpPr>
          <p:cNvPr id="4" name="Line 4"/>
          <p:cNvSpPr/>
          <p:nvPr/>
        </p:nvSpPr>
        <p:spPr>
          <a:xfrm>
            <a:off x="571500" y="647700"/>
            <a:ext cx="762000" cy="9525"/>
          </a:xfrm>
          <a:custGeom>
            <a:avLst/>
            <a:gdLst/>
            <a:ahLst/>
            <a:cxnLst/>
            <a:rect l="l" t="t" r="r" b="b"/>
            <a:pathLst>
              <a:path w="762000" h="9525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/>
          <a:ln w="28575">
            <a:solidFill>
              <a:srgbClr val="7DD3FC"/>
            </a:solidFill>
          </a:ln>
        </p:spPr>
      </p:sp>
      <p:sp>
        <p:nvSpPr>
          <p:cNvPr id="5" name="Rectangle 5"/>
          <p:cNvSpPr/>
          <p:nvPr/>
        </p:nvSpPr>
        <p:spPr>
          <a:xfrm>
            <a:off x="571500" y="952500"/>
            <a:ext cx="6000750" cy="4000500"/>
          </a:xfrm>
          <a:prstGeom prst="roundRect">
            <a:avLst>
              <a:gd name="adj" fmla="val 2857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822960" y="1156335"/>
            <a:ext cx="478747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C4A6E"/>
                </a:solidFill>
                <a:latin typeface="Segoe UI"/>
                <a:ea typeface="Microsoft YaHei"/>
                <a:cs typeface="Segoe UI"/>
              </a:rPr>
              <a:t>Three Reasons — FIRE over a Standard Doctoral School</a:t>
            </a:r>
          </a:p>
        </p:txBody>
      </p:sp>
      <p:sp>
        <p:nvSpPr>
          <p:cNvPr id="7" name="Ellipse 7"/>
          <p:cNvSpPr/>
          <p:nvPr/>
        </p:nvSpPr>
        <p:spPr>
          <a:xfrm>
            <a:off x="714375" y="1590675"/>
            <a:ext cx="247650" cy="247650"/>
          </a:xfrm>
          <a:prstGeom prst="ellipse">
            <a:avLst/>
          </a:prstGeom>
          <a:solidFill>
            <a:srgbClr val="0369A1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08745" y="1673066"/>
            <a:ext cx="589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82040" y="1639252"/>
            <a:ext cx="228095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369A1"/>
                </a:solidFill>
                <a:latin typeface="Segoe UI"/>
                <a:ea typeface="Microsoft YaHei"/>
                <a:cs typeface="Segoe UI"/>
              </a:rPr>
              <a:t>Scientific Interdisciplinarity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83945" y="1864995"/>
            <a:ext cx="587873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This project sits at the intersection of experimental systems neuroscience, computational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83945" y="2055495"/>
            <a:ext cx="57275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population analysis, and cognitive science — mapping onto FIRE's interdisciplinary mission</a:t>
            </a:r>
          </a:p>
        </p:txBody>
      </p:sp>
      <p:sp>
        <p:nvSpPr>
          <p:cNvPr id="12" name="Ellipse 12"/>
          <p:cNvSpPr/>
          <p:nvPr/>
        </p:nvSpPr>
        <p:spPr>
          <a:xfrm>
            <a:off x="714375" y="2495550"/>
            <a:ext cx="247650" cy="247650"/>
          </a:xfrm>
          <a:prstGeom prst="ellipse">
            <a:avLst/>
          </a:prstGeom>
          <a:solidFill>
            <a:srgbClr val="0369A1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92931" y="2577941"/>
            <a:ext cx="9053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82040" y="2544128"/>
            <a:ext cx="20313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369A1"/>
                </a:solidFill>
                <a:latin typeface="Segoe UI"/>
                <a:ea typeface="Microsoft YaHei"/>
                <a:cs typeface="Segoe UI"/>
              </a:rPr>
              <a:t>Methodological Innovation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83945" y="2769870"/>
            <a:ext cx="58195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Combines chronic e-phys, closed-loop VR, and computational population analyses — bridging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83945" y="2960370"/>
            <a:ext cx="544496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experimental and theoretical domains in ways unusual for a standard doctoral school</a:t>
            </a:r>
          </a:p>
        </p:txBody>
      </p:sp>
      <p:sp>
        <p:nvSpPr>
          <p:cNvPr id="17" name="Ellipse 17"/>
          <p:cNvSpPr/>
          <p:nvPr/>
        </p:nvSpPr>
        <p:spPr>
          <a:xfrm>
            <a:off x="714375" y="3400425"/>
            <a:ext cx="247650" cy="247650"/>
          </a:xfrm>
          <a:prstGeom prst="ellipse">
            <a:avLst/>
          </a:prstGeom>
          <a:solidFill>
            <a:srgbClr val="0369A1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792931" y="3482816"/>
            <a:ext cx="9053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82040" y="3449002"/>
            <a:ext cx="245807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369A1"/>
                </a:solidFill>
                <a:latin typeface="Segoe UI"/>
                <a:ea typeface="Microsoft YaHei"/>
                <a:cs typeface="Segoe UI"/>
              </a:rPr>
              <a:t>Long-Term Responsible Framing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83945" y="3674745"/>
            <a:ext cx="60693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FIRE requires explicit attention to downstream ethical &amp; societal implications. CIRP workshops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83945" y="3865245"/>
            <a:ext cx="56881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+ philosophy of science provide space to revisit planetary implications at key milestones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24865" y="4363402"/>
            <a:ext cx="234536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C4A6E"/>
                </a:solidFill>
                <a:latin typeface="Segoe UI"/>
                <a:ea typeface="Microsoft YaHei"/>
                <a:cs typeface="Segoe UI"/>
              </a:rPr>
              <a:t>Why Learning Planet Institute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26770" y="4627245"/>
            <a:ext cx="559612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Planetary-scale thinking applied to learning &amp; cognition — a unique intellectual home for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26770" y="4817745"/>
            <a:ext cx="63453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research that refuses disciplinary silos. A community committed to science in service of humanity</a:t>
            </a:r>
          </a:p>
        </p:txBody>
      </p:sp>
      <p:sp>
        <p:nvSpPr>
          <p:cNvPr id="25" name="Rectangle 25"/>
          <p:cNvSpPr/>
          <p:nvPr/>
        </p:nvSpPr>
        <p:spPr>
          <a:xfrm>
            <a:off x="6858000" y="952500"/>
            <a:ext cx="4762500" cy="266700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7109460" y="1156335"/>
            <a:ext cx="173269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369A1"/>
                </a:solidFill>
                <a:latin typeface="Segoe UI"/>
                <a:ea typeface="Microsoft YaHei"/>
                <a:cs typeface="Segoe UI"/>
              </a:rPr>
              <a:t>Why I Am Ready Now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112318" y="1494949"/>
            <a:ext cx="31721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Already operating the closed-loop paradigm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114222" y="1720691"/>
            <a:ext cx="267778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→ zero ramp-up time, productivity from Day 1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112318" y="1990249"/>
            <a:ext cx="283571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Fully trained in lab's analysis pipelines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114222" y="2215991"/>
            <a:ext cx="307540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PCA · GPFA · Granger causality · population decoding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112318" y="2485549"/>
            <a:ext cx="212550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Seamless M2 → PhD transition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114222" y="2711291"/>
            <a:ext cx="278622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→ immediate scientific productivity guaranteed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112318" y="2980849"/>
            <a:ext cx="15274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Unique hybrid profile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113270" y="3198495"/>
            <a:ext cx="298694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In vivo e-phys + ML + computation — OHBM 2025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113270" y="3408045"/>
            <a:ext cx="42751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4 validated animals, 7 hemispheres — publishable data from Month 1</a:t>
            </a:r>
          </a:p>
        </p:txBody>
      </p:sp>
      <p:sp>
        <p:nvSpPr>
          <p:cNvPr id="36" name="Rectangle 36"/>
          <p:cNvSpPr/>
          <p:nvPr/>
        </p:nvSpPr>
        <p:spPr>
          <a:xfrm>
            <a:off x="6858000" y="3810000"/>
            <a:ext cx="4762500" cy="1143000"/>
          </a:xfrm>
          <a:prstGeom prst="roundRect">
            <a:avLst>
              <a:gd name="adj" fmla="val 10000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7111365" y="4001452"/>
            <a:ext cx="20313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369A1"/>
                </a:solidFill>
                <a:latin typeface="Segoe UI"/>
                <a:ea typeface="Microsoft YaHei"/>
                <a:cs typeface="Segoe UI"/>
              </a:rPr>
              <a:t>Unique Profile &amp; Autonomy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113270" y="4284345"/>
            <a:ext cx="505720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Progressive autonomy: close guidance Year 1 → independent leadership Year 3–4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113270" y="4531995"/>
            <a:ext cx="48271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Weekly one-to-one supervision throughout (per Boubenec supervision plan)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517868" y="6586538"/>
            <a:ext cx="11215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0F9FF"/>
              </a:gs>
              <a:gs pos="50000">
                <a:srgbClr val="E0F2FE"/>
              </a:gs>
              <a:gs pos="100000">
                <a:srgbClr val="F8FAFC"/>
              </a:gs>
            </a:gsLst>
            <a:lin ang="2700000" scaled="1"/>
          </a:gra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752918" y="1516380"/>
            <a:ext cx="2686164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0C4A6E"/>
                </a:solidFill>
                <a:latin typeface="Segoe UI"/>
                <a:ea typeface="Microsoft YaHei"/>
                <a:cs typeface="Segoe UI"/>
              </a:rPr>
              <a:t>Thank You</a:t>
            </a:r>
          </a:p>
        </p:txBody>
      </p:sp>
      <p:sp>
        <p:nvSpPr>
          <p:cNvPr id="4" name="Line 4"/>
          <p:cNvSpPr/>
          <p:nvPr/>
        </p:nvSpPr>
        <p:spPr>
          <a:xfrm>
            <a:off x="5524500" y="2190750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28575">
            <a:solidFill>
              <a:srgbClr val="7DD3FC"/>
            </a:solidFill>
          </a:ln>
        </p:spPr>
      </p:sp>
      <p:sp>
        <p:nvSpPr>
          <p:cNvPr id="5" name="Rectangle 5"/>
          <p:cNvSpPr/>
          <p:nvPr/>
        </p:nvSpPr>
        <p:spPr>
          <a:xfrm>
            <a:off x="1524000" y="2667000"/>
            <a:ext cx="9144000" cy="13335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BAE6FD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5418457" y="2887028"/>
            <a:ext cx="135508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C4A6E"/>
                </a:solidFill>
                <a:latin typeface="Segoe UI"/>
                <a:ea typeface="Microsoft YaHei"/>
                <a:cs typeface="Segoe UI"/>
              </a:rPr>
              <a:t>Long-Term Vision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200043" y="3190399"/>
            <a:ext cx="57919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Contribute to global brain initiatives &amp; BCI development → build lasting international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442121" y="3438049"/>
            <a:ext cx="53077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research bridges → translate fundamental mechanisms into clinical tools for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858988" y="3685699"/>
            <a:ext cx="247402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communication disorders worldwide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341253" y="4489132"/>
            <a:ext cx="150949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Bohan Zhang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518470" y="4839652"/>
            <a:ext cx="315506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bohan.zhang@etu.sorbonne-universite.fr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092916" y="5077778"/>
            <a:ext cx="400616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Laboratoire des Systèmes Perceptifs (LSP), ENS-PSL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